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66928" cy="566928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3566160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417320"/>
            <a:ext cx="329184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D66B"/>
                </a:solidFill>
                <a:latin typeface="Cambria"/>
              </a:rPr>
              <a:t>Mishkat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25880"/>
            <a:ext cx="35661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5400" b="1">
                <a:solidFill>
                  <a:srgbClr val="FFD66B"/>
                </a:solidFill>
                <a:latin typeface="Arial"/>
              </a:rPr>
              <a:t>مِشكاة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651760"/>
            <a:ext cx="67665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ECEFF5"/>
                </a:solidFill>
                <a:latin typeface="Calibri"/>
              </a:rPr>
              <a:t>The Quran Galaxy Guide — AI-augmented Quran search that never writes a religious 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429000"/>
            <a:ext cx="67665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800" b="0">
                <a:solidFill>
                  <a:srgbClr val="ECEFF5"/>
                </a:solidFill>
                <a:latin typeface="Arial"/>
              </a:rPr>
              <a:t>دليل مجرّة القرآن الذكي</a:t>
            </a:r>
          </a:p>
          <a:p>
            <a:pPr algn="r" rtl="1">
              <a:spcAft>
                <a:spcPts val="200"/>
              </a:spcAft>
            </a:pPr>
            <a:r>
              <a:rPr sz="1800" b="0">
                <a:solidFill>
                  <a:srgbClr val="ECEFF5"/>
                </a:solidFill>
                <a:latin typeface="Arial"/>
              </a:rPr>
              <a:t>بحث قرآني معزَّز بالذكاء الاصطناعي لا يكتب حرفًا دينيًّا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676656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A0A8BA"/>
                </a:solidFill>
                <a:latin typeface="Calibri"/>
              </a:rPr>
              <a:t>Islamic AI Challenge 2026 · Track 1 — Knowledge dialogue &amp; reliable answers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0A8BA"/>
                </a:solidFill>
                <a:latin typeface="Calibri"/>
              </a:rPr>
              <a:t>Mohamed Nour Bou Ali · Arabic and English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0A8BA"/>
                </a:solidFill>
                <a:latin typeface="Calibri"/>
              </a:rPr>
              <a:t>Live demo: mishkatquran.org · Code: github.com/mednour87/Mishkat · © 2026 —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A0A8BA"/>
                </a:solidFill>
                <a:latin typeface="Arial"/>
              </a:rPr>
              <a:t>المشكلة مقيسة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D66B"/>
                </a:solidFill>
                <a:latin typeface="Cambria"/>
              </a:rPr>
              <a:t>The problem,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CEFF5"/>
                </a:solidFill>
                <a:latin typeface="Calibri"/>
              </a:rPr>
              <a:t>We asked a general chatbot (the same open model, openai/gpt-oss-120b, no retrieval) the 60 questions of our blind rating sheet, and checked every quotation it presented as Quran (in ornate Quran brackets) against the Mushaf with Mishkat’s verifier.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31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32888"/>
            <a:ext cx="21488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D66B"/>
                </a:solidFill>
                <a:latin typeface="Cambria"/>
              </a:rP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21488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FF5"/>
                </a:solidFill>
                <a:latin typeface="Calibri"/>
              </a:rPr>
              <a:t>Quran quotations given by the chatbot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4231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532888"/>
            <a:ext cx="21488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5EE6A0"/>
                </a:solidFill>
                <a:latin typeface="Cambria"/>
              </a:rPr>
              <a:t>21 %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337560"/>
            <a:ext cx="21488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FF5"/>
                </a:solidFill>
                <a:latin typeface="Calibri"/>
              </a:rPr>
              <a:t>exact (26) — word for word in the Mushaf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4231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532888"/>
            <a:ext cx="21488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7A7A"/>
                </a:solidFill>
                <a:latin typeface="Cambria"/>
              </a:rPr>
              <a:t>60 %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337560"/>
            <a:ext cx="21488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FF5"/>
                </a:solidFill>
                <a:latin typeface="Calibri"/>
              </a:rPr>
              <a:t>match no verse at all (72)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423160"/>
            <a:ext cx="2697480" cy="160020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532888"/>
            <a:ext cx="22402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E8A93C"/>
                </a:solidFill>
                <a:latin typeface="Cambria"/>
              </a:rPr>
              <a:t>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337560"/>
            <a:ext cx="224028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FF5"/>
                </a:solidFill>
                <a:latin typeface="Calibri"/>
              </a:rPr>
              <a:t>altered (14) or two verses merged (3)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43400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1C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80560"/>
            <a:ext cx="1060704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D66B"/>
                </a:solidFill>
                <a:latin typeface="Calibri"/>
              </a:rPr>
              <a:t>Mishkat: 0 by construction. </a:t>
            </a:r>
            <a:r>
              <a:rPr sz="1500" b="0">
                <a:solidFill>
                  <a:srgbClr val="ECEFF5"/>
                </a:solidFill>
                <a:latin typeface="Calibri"/>
              </a:rPr>
              <a:t>Every verse is read from the Tanzil file (tested byte for byte); the AI only returns IDs from closed lists. Reliable tools (concordances, tafsir libraries) exist, but they need the exact word, Arabic, and patience — the people who ask “what does the Quran say about…?” use chatbots.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FF5"/>
                </a:solidFill>
                <a:latin typeface="Calibri"/>
              </a:rPr>
              <a:t>Automatic count, no human judgement; quotations are only those the chatbot itself marked as Quran.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A0A8BA"/>
                </a:solidFill>
                <a:latin typeface="Arial"/>
              </a:rPr>
              <a:t>الحل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D66B"/>
                </a:solidFill>
                <a:latin typeface="Cambria"/>
              </a:rPr>
              <a:t>One search bar over the galaxy of the Quran</a:t>
            </a:r>
          </a:p>
        </p:txBody>
      </p:sp>
      <p:pic>
        <p:nvPicPr>
          <p:cNvPr id="5" name="Picture 4" descr="03_reponse_courte_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040880" cy="4400550"/>
          </a:xfrm>
          <a:prstGeom prst="rect">
            <a:avLst/>
          </a:prstGeom>
          <a:ln w="12700">
            <a:solidFill>
              <a:srgbClr val="1C223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863840" y="1463040"/>
            <a:ext cx="3840480" cy="4937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Type an idea, a question, a surah, a verse or part of a verse — Arabic or English: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① the short answer (الجواب باختصار): verbatim sentences of the verse, the tafsir and graded hadiths, each with its reference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② the key verses with their complete tafsir, then the surahs ranked by relevance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③ a reader verse by verse, recitation synchronised word by word (Sheikh Alafasy)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④ the camera flies through 77,433 stars — the words of the Quran — to the verses of the answer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⑤ rulings, crisis, traps and quotes each have their own safe route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A0A8BA"/>
                </a:solidFill>
                <a:latin typeface="Arial"/>
              </a:rPr>
              <a:t>القاعدة الذهبية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D66B"/>
                </a:solidFill>
                <a:latin typeface="Cambria"/>
              </a:rPr>
              <a:t>The golden rule: the machine never writes religious text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754880"/>
                <a:gridCol w="3931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D66B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marL="91440" marR="91440" marT="36576" marB="36576">
                    <a:solidFill>
                      <a:srgbClr val="3C2E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D66B"/>
                          </a:solidFill>
                          <a:latin typeface="Calibri"/>
                        </a:rPr>
                        <a:t>Comes from</a:t>
                      </a:r>
                    </a:p>
                  </a:txBody>
                  <a:tcPr marL="91440" marR="91440" marT="36576" marB="36576">
                    <a:solidFill>
                      <a:srgbClr val="3C2E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D66B"/>
                          </a:solidFill>
                          <a:latin typeface="Calibri"/>
                        </a:rPr>
                        <a:t>Guarantee</a:t>
                      </a:r>
                    </a:p>
                  </a:txBody>
                  <a:tcPr marL="91440" marR="91440" marT="36576" marB="36576">
                    <a:solidFill>
                      <a:srgbClr val="3C2E0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Quran text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Tanzil file, byte-exact (SHA-256 in the tests)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the model never writes a verse; never read by a machine voice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Tafsir, hadith, dhikr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Al-Muyassar, Al-Mukhtasar (QuranEnc), HadeethEnc, Hisn al-Muslim checked on Dorar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verbatim, with source, grade and link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Rulings (ahkam)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Fiqh Encyclopedia of Ad-Durar As-Saniyyah (reference pack)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its own statement, verbatim; Mishkat never rules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Stories of the prophets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Al-Jamhara (surah sciences) + Quranpedia subject index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verbatim summary and verse ranges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Interface text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hand-written templates, Arabic and English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no free text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Anything else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abstain and refer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1C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919472"/>
            <a:ext cx="10607040" cy="1143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The AI has narrow jobs and returns only IDs: (1) intent and search keywords, (2) verse IDs from a closed candidate list, (3) sentence IDs for the short answer (composer), (4) an independent judge keeps only the sentences that answer the question. Out-of-list IDs are dropped on the server and again in the browser; on failure the deterministic engine answers.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A0A8BA"/>
                </a:solidFill>
                <a:latin typeface="Arial"/>
              </a:rPr>
              <a:t>آلية العمل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D66B"/>
                </a:solidFill>
                <a:latin typeface="Cambria"/>
              </a:rPr>
              <a:t>How a question travels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3291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D66B"/>
                </a:solidFill>
                <a:latin typeface="Calibri"/>
              </a:rPr>
              <a:t>1  Guards first, no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536192"/>
            <a:ext cx="7406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crisis → support message · injection or “write me a hadith” → fixed answer · ruling, personal case, dream → referral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29968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1C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291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D66B"/>
                </a:solidFill>
                <a:latin typeface="Calibri"/>
              </a:rPr>
              <a:t>2  Tools and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148840"/>
            <a:ext cx="7406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time left until a prayer, qibla, adhkar, calendar, khatma · 2:255, surah names, famous verses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42616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61488"/>
            <a:ext cx="3291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D66B"/>
                </a:solidFill>
                <a:latin typeface="Calibri"/>
              </a:rPr>
              <a:t>3  Quote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761488"/>
            <a:ext cx="7406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exact · misquote (words highlighted) · two verses merged · not in the Quran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55264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1C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74136"/>
            <a:ext cx="3291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D66B"/>
                </a:solidFill>
                <a:latin typeface="Calibri"/>
              </a:rPr>
              <a:t>4  AI expand (gpt-oss-20b)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374136"/>
            <a:ext cx="7406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intent + classical search keywords — never displayed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67912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86784"/>
            <a:ext cx="3291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D66B"/>
                </a:solidFill>
                <a:latin typeface="Calibri"/>
              </a:rPr>
              <a:t>5 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986784"/>
            <a:ext cx="7406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BM25 over Quran + tafsir + translations, Quranpedia subject index, bge-m3 neighbours ranked in the browser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8056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1C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99432"/>
            <a:ext cx="3291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D66B"/>
                </a:solidFill>
                <a:latin typeface="Calibri"/>
              </a:rPr>
              <a:t>6  AI select (gpt-oss-120b)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599432"/>
            <a:ext cx="7406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verse IDs from the closed candidate list → verifier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93208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3291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D66B"/>
                </a:solidFill>
                <a:latin typeface="Calibri"/>
              </a:rPr>
              <a:t>7  Short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5212080"/>
            <a:ext cx="7406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closed list of verbatim sentences → composer (IDs) → independent judge → rules R1–R12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705856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1C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824728"/>
            <a:ext cx="3291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D66B"/>
                </a:solidFill>
                <a:latin typeface="Calibri"/>
              </a:rPr>
              <a:t>8  Display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5824728"/>
            <a:ext cx="7406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short answer · key verses with tafsir · ranked surahs · galaxy flight · synchronised recitation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A0A8BA"/>
                </a:solidFill>
                <a:latin typeface="Arial"/>
              </a:rPr>
              <a:t>خط المعالجة كاملًا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D66B"/>
                </a:solidFill>
                <a:latin typeface="Cambria"/>
              </a:rPr>
              <a:t>The pipeline at a glance — evidence-bound extractive RAG</a:t>
            </a:r>
          </a:p>
        </p:txBody>
      </p:sp>
      <p:pic>
        <p:nvPicPr>
          <p:cNvPr id="5" name="Picture 4" descr="pipeline_r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11247120" cy="6748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0A8BA"/>
                </a:solidFill>
                <a:latin typeface="Calibri"/>
              </a:rPr>
              <a:t>Full description: docs/MOTEUR_RECHERCHE_RAG.md — every box names the file that does the work; every figure comes from a results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A0A8BA"/>
                </a:solidFill>
                <a:latin typeface="Arial"/>
              </a:rPr>
              <a:t>الموثوقية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D66B"/>
                </a:solidFill>
                <a:latin typeface="Cambria"/>
              </a:rPr>
              <a:t>Reliability you can see</a:t>
            </a:r>
          </a:p>
        </p:txBody>
      </p:sp>
      <p:pic>
        <p:nvPicPr>
          <p:cNvPr id="5" name="Picture 4" descr="04_hukm_mawsua_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486400" cy="3429000"/>
          </a:xfrm>
          <a:prstGeom prst="rect">
            <a:avLst/>
          </a:prstGeom>
          <a:ln w="12700">
            <a:solidFill>
              <a:srgbClr val="1C2236"/>
            </a:solidFill>
          </a:ln>
        </p:spPr>
      </p:pic>
      <p:pic>
        <p:nvPicPr>
          <p:cNvPr id="6" name="Picture 5" descr="05_citation_deformee_a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63040"/>
            <a:ext cx="5486400" cy="3429000"/>
          </a:xfrm>
          <a:prstGeom prst="rect">
            <a:avLst/>
          </a:prstGeom>
          <a:ln w="12700">
            <a:solidFill>
              <a:srgbClr val="1C223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Ruling question → red “sensitive question” banner, the Fiqh Encyclopedia’s statement verbatim, authorities it names, link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Misquoted verse → the word that is not in the Mushaf is highlighted, the exact verse is shown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A0A8BA"/>
                </a:solidFill>
                <a:latin typeface="Arial"/>
              </a:rPr>
              <a:t>الأسئلة الحساسة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D66B"/>
                </a:solidFill>
                <a:latin typeface="Cambria"/>
              </a:rPr>
              <a:t>Sensitive questions: fixed, reviewed routes</a:t>
            </a:r>
          </a:p>
        </p:txBody>
      </p:sp>
      <p:pic>
        <p:nvPicPr>
          <p:cNvPr id="5" name="Picture 4" descr="08_crisis_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583680" cy="4114800"/>
          </a:xfrm>
          <a:prstGeom prst="rect">
            <a:avLst/>
          </a:prstGeom>
          <a:ln w="12700">
            <a:solidFill>
              <a:srgbClr val="1C223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406640" y="1463040"/>
            <a:ext cx="4206240" cy="4937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A person in crisis gets a support message and findahelpline.com first, then verses of hope with their full tafsir — never a verse of punishment.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Prompt injection, trap questions and requests to write a verse, a hadith or a fatwa get a fixed answer before any AI call; the API refuses the same texts.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Blood, hudud, polemics: the reviewed context first, no claim of agreement, referral to alifta.gov.sa.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Abstention is preferred to a doubtful answer; an uncovered part of the question is said to be uncovered.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A0A8BA"/>
                </a:solidFill>
                <a:latin typeface="Arial"/>
              </a:rPr>
              <a:t>النماذج والكلفة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D66B"/>
                </a:solidFill>
                <a:latin typeface="Cambria"/>
              </a:rPr>
              <a:t>Open models, free first, a paid backup with a cap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291840"/>
                <a:gridCol w="3566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D66B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91440" marR="91440" marT="36576" marB="36576">
                    <a:solidFill>
                      <a:srgbClr val="3C2E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D66B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91440" marR="91440" marT="36576" marB="36576">
                    <a:solidFill>
                      <a:srgbClr val="3C2E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D66B"/>
                          </a:solidFill>
                          <a:latin typeface="Calibri"/>
                        </a:rPr>
                        <a:t>Provider</a:t>
                      </a:r>
                    </a:p>
                  </a:txBody>
                  <a:tcPr marL="91440" marR="91440" marT="36576" marB="36576">
                    <a:solidFill>
                      <a:srgbClr val="3C2E0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intent, keywords, result filters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openai/gpt-oss-20b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Groq — free tier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verse selection, composer, judge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openai/gpt-oss-120b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Groq — free tier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backup only (quota / failure)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same models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OpenRouter — pay per token, price cap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speech to text, recite to find a verse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whisper-large-v3-turbo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Groq — free tier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tafsir read aloud without a browser voice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orpheus-arabic-saudi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Groq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meaning vectors of the question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bge-m3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CEFF5"/>
                          </a:solidFill>
                          <a:latin typeface="Calibri"/>
                        </a:rPr>
                        <a:t>Cloudflare Workers AI (free allocation)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A93C"/>
                </a:solidFill>
                <a:latin typeface="Calibri"/>
              </a:rPr>
              <a:t>Normal cost of an answer: 0 (free tiers + Cloudflare Pages free plan). Backup: ≈ $0.0014 per question measured, daily ceiling of paid calls, credit limit on the key.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A93C"/>
                </a:solidFill>
                <a:latin typeface="Calibri"/>
              </a:rPr>
              <a:t>Identical questions cached at the edge; frequent questions pre-computed and re-verified. Without AI the deterministic engine still answers, still grounded and abstaining.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A0A8BA"/>
                </a:solidFill>
                <a:latin typeface="Arial"/>
              </a:rPr>
              <a:t>معيار علمي عام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D66B"/>
                </a:solidFill>
                <a:latin typeface="Cambria"/>
              </a:rPr>
              <a:t>Public benchmark: Qur'an QA 2023, Task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31089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D66B"/>
                </a:solidFill>
                <a:latin typeface="Cambria"/>
              </a:rPr>
              <a:t>0.616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1089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FF5"/>
                </a:solidFill>
                <a:latin typeface="Calibri"/>
              </a:rPr>
              <a:t>MRR@10 · 95 % CI 0.490–0.742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72768"/>
            <a:ext cx="31089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8EC5F0"/>
                </a:solidFill>
                <a:latin typeface="Cambria"/>
              </a:rPr>
              <a:t>0.300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1089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FF5"/>
                </a:solidFill>
                <a:latin typeface="Calibri"/>
              </a:rPr>
              <a:t>MAP@10 · 95 % CI 0.210–0.402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572768"/>
            <a:ext cx="31089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A0A8BA"/>
                </a:solidFill>
                <a:latin typeface="Cambria"/>
              </a:rPr>
              <a:t>0.576 · 0.313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377440"/>
            <a:ext cx="31089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FF5"/>
                </a:solidFill>
                <a:latin typeface="Calibri"/>
              </a:rPr>
              <a:t>best published MRR · MAP (arXiv 2412.11431)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11064240" cy="2926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FF5"/>
                </a:solidFill>
                <a:latin typeface="Calibri"/>
              </a:rPr>
              <a:t>Deployed pipeline, 3 runs on Groq’s free tier only (4 Oct 2026), mean per question; official scorer (pytrec_eval), 51 scored test questions; bootstrap 2,000 × seed 42. Run-to-run spread: MRR 0.609–0.620 (understated: identical AI requests are cached, as in production).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FF5"/>
                </a:solidFill>
                <a:latin typeface="Calibri"/>
              </a:rPr>
              <a:t>Reading: comparable to the best published fine-tuned systems — their scores lie inside our intervals; we do not claim to be better. No training on this data; every verse from the verified text; few verses shown on purpose (lower MAP).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FF5"/>
                </a:solidFill>
                <a:latin typeface="Calibri"/>
              </a:rPr>
              <a:t>Limits: the test questions were seen during development (no tuning on them, but not a blind test); one public benchmark, Arabic only.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A0A8BA"/>
                </a:solidFill>
                <a:latin typeface="Arial"/>
              </a:rPr>
              <a:t>المتانة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D66B"/>
                </a:solidFill>
                <a:latin typeface="Cambria"/>
              </a:rPr>
              <a:t>Robustness, measured without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31089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D66B"/>
                </a:solidFill>
                <a:latin typeface="Cambria"/>
              </a:rPr>
              <a:t>630/671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1089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FF5"/>
                </a:solidFill>
                <a:latin typeface="Calibri"/>
              </a:rPr>
              <a:t>known expectations met on a map of 1,000 questions (engine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72768"/>
            <a:ext cx="31089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5EE6A0"/>
                </a:solidFill>
                <a:latin typeface="Cambria"/>
              </a:rPr>
              <a:t>50/50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1089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FF5"/>
                </a:solidFill>
                <a:latin typeface="Calibri"/>
              </a:rPr>
              <a:t>legitimate questions that look sensitive — none refused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572768"/>
            <a:ext cx="31089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8EC5F0"/>
                </a:solidFill>
                <a:latin typeface="Cambria"/>
              </a:rPr>
              <a:t>245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377440"/>
            <a:ext cx="31089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FF5"/>
                </a:solidFill>
                <a:latin typeface="Calibri"/>
              </a:rPr>
              <a:t>automated tests, all green (data, guards, hostile AI, RAG rules, security)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110642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FF5"/>
                </a:solidFill>
                <a:latin typeface="Calibri"/>
              </a:rPr>
              <a:t>The map sends 1,000 real and synthetic questions (Arabic and English, forum titles, spoken questions, traps) through the engine without AI, builds the tree language → route → answer → who vouches, and lists the weak points W1–W9; each weak point fixed got a test.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CEFF5"/>
                </a:solidFill>
                <a:latin typeface="Calibri"/>
              </a:rPr>
              <a:t>Human blind rating (Mishkat vs chatbot, 2 raters, Cohen’s κ) and a user test with SUS: protocol and sheets ready — no figure is claimed before they are done.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A0A8BA"/>
                </a:solidFill>
                <a:latin typeface="Arial"/>
              </a:rPr>
              <a:t>أدوات يومية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D66B"/>
                </a:solidFill>
                <a:latin typeface="Cambria"/>
              </a:rPr>
              <a:t>More than answers: the daily companion</a:t>
            </a:r>
          </a:p>
        </p:txBody>
      </p:sp>
      <p:pic>
        <p:nvPicPr>
          <p:cNvPr id="5" name="Picture 4" descr="09_adhkar_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846320" cy="3028950"/>
          </a:xfrm>
          <a:prstGeom prst="rect">
            <a:avLst/>
          </a:prstGeom>
          <a:ln w="12700">
            <a:solidFill>
              <a:srgbClr val="1C2236"/>
            </a:solidFill>
          </a:ln>
        </p:spPr>
      </p:pic>
      <p:pic>
        <p:nvPicPr>
          <p:cNvPr id="6" name="Picture 5" descr="10_qissa_a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463040"/>
            <a:ext cx="4846320" cy="3028950"/>
          </a:xfrm>
          <a:prstGeom prst="rect">
            <a:avLst/>
          </a:prstGeom>
          <a:ln w="12700">
            <a:solidFill>
              <a:srgbClr val="1C2236"/>
            </a:solidFill>
          </a:ln>
        </p:spPr>
      </p:pic>
      <p:pic>
        <p:nvPicPr>
          <p:cNvPr id="7" name="Picture 6" descr="11_mobile_a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1463040"/>
            <a:ext cx="1394352" cy="3017520"/>
          </a:xfrm>
          <a:prstGeom prst="rect">
            <a:avLst/>
          </a:prstGeom>
          <a:ln w="12700">
            <a:solidFill>
              <a:srgbClr val="1C223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Khatma v2 with «Choose for me» (minutes a day, moments after each prayer, pace, short surahs first, deadline) — the plan lights up in the 3D lamp, then read with the reciter, reading only or listening only · memorising by repetition (counter, 70 % of the reciter’s time) · a safe mode for children (no fatwa) · adhkar with grades · prayer times, qibla (checked bearings), nearby mosques · Hijri calendar · installable on phone and computer · the Challenge flower among the 3D shapes.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The visitor’s position and data stay in the browser; nothing is sent to Mishkat’s server.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A0A8BA"/>
                </a:solidFill>
                <a:latin typeface="Arial"/>
              </a:rPr>
              <a:t>المصادر والتراخيص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D66B"/>
                </a:solidFill>
                <a:latin typeface="Cambria"/>
              </a:rPr>
              <a:t>Sources and licences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291840"/>
                <a:gridCol w="3200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D66B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91440" marR="91440" marT="36576" marB="36576">
                    <a:solidFill>
                      <a:srgbClr val="3C2E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D66B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91440" marR="91440" marT="36576" marB="36576">
                    <a:solidFill>
                      <a:srgbClr val="3C2E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D66B"/>
                          </a:solidFill>
                          <a:latin typeface="Calibri"/>
                        </a:rPr>
                        <a:t>Licence / terms</a:t>
                      </a:r>
                    </a:p>
                  </a:txBody>
                  <a:tcPr marL="91440" marR="91440" marT="36576" marB="36576">
                    <a:solidFill>
                      <a:srgbClr val="3C2E0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Tanzil (Hafs, Uthmani)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the only verse text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CC BY 3.0, verbatim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QuranEnc: Al-Muyassar, Al-Mukhtasar, Noor Int.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tafsir, translation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no modification, attribution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Quran.com: Sa‘di, Ibn Kathir, Baghawi, Qurtubi; Alafasy + timings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reader, recitation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public API, attribution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HadeethEnc · Dorar (hadith encyclopedia)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graded hadiths, verdicts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public APIs, verbatim + link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Dorar — Fiqh Encyclopedia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rulings (statement only)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public site, link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Al-Jamhara · Quranpedia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stories, subject index, surah info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credit + version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Aladhan · OpenStreetMap · GeoNames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prayer times, mosques, cities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free API · ODbL · CC BY 4.0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Qur’an QA 2023 (bigIR)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evaluation only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CC BY-NC-ND 4.0, not redistributed</a:t>
                      </a:r>
                    </a:p>
                  </a:txBody>
                  <a:tcPr marL="91440" marR="91440" marT="36576" marB="36576">
                    <a:solidFill>
                      <a:srgbClr val="1C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Mishkat itself (code, design, logo, film)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the product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CEFF5"/>
                          </a:solidFill>
                          <a:latin typeface="Calibri"/>
                        </a:rPr>
                        <a:t>All rights reserved (challenge terms 13/7); organisers keep their evaluation licence</a:t>
                      </a:r>
                    </a:p>
                  </a:txBody>
                  <a:tcPr marL="91440" marR="91440" marT="36576" marB="36576">
                    <a:solidFill>
                      <a:srgbClr val="1015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0A8BA"/>
                </a:solidFill>
                <a:latin typeface="Calibri"/>
              </a:rPr>
              <a:t>Full registry with access, licence and how we comply: SOURCES.md · tools and costs: TOOLS.md · traceability of every host, endpoint and data file: docs/TRACEABILITY.md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A0A8BA"/>
                </a:solidFill>
                <a:latin typeface="Arial"/>
              </a:rPr>
              <a:t>الشفافية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D66B"/>
                </a:solidFill>
                <a:latin typeface="Cambria"/>
              </a:rPr>
              <a:t>What was built during the window (4–6 October)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D66B"/>
                </a:solidFill>
                <a:latin typeface="Calibri"/>
              </a:rPr>
              <a:t>Declared baseline (before 4 Oct)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FFD66B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4937760" cy="3840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Quran Cartography data and the Mishkat engine (search, verification, guards, reader, galaxy), the extractive RAG, the public benchmark kit, the tool modules — disclosed with fingerprints in BASELINE.md, tag baseline-2026-10-03.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1C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D66B"/>
                </a:solidFill>
                <a:latin typeface="Calibri"/>
              </a:rPr>
              <a:t>Challenge window (CHANGELOG.md)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937760" cy="2560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Rulings only from the Fiqh Encyclopedia + red banner · stories from Al-Jamhara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Trap and injection guard · RAG tested on 1,000 questions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Prayer, qibla, mosques, adhkar verified on Dorar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Khatma v2 «Choose for me», tekrar, child mode, installable app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Film on 24:35 narrated in fusha · logo checked against As-Sa‘di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Domain, all rights reserved, dated archive · phone review fixes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A93C"/>
                </a:solidFill>
                <a:latin typeface="Calibri"/>
              </a:rPr>
              <a:t>49 commits since the window opened (4 Oct, 09:00 Riyadh), each named by task (T0xx) and dated; the baseline tag was never moved. Work done on 3 October after the tag, at the author’s request, is declared as preparation in BASELINE.md §2.4.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880" y="274320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A0A8BA"/>
                </a:solidFill>
                <a:latin typeface="Arial"/>
              </a:rPr>
              <a:t>الحدود والخطوات القادمة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424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D66B"/>
                </a:solidFill>
                <a:latin typeface="Cambria"/>
              </a:rPr>
              <a:t>Known limits and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101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7A7A"/>
                </a:solidFill>
                <a:latin typeface="Calibri"/>
              </a:rPr>
              <a:t>Known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4937760" cy="2560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Thematic search can miss a passage worded differently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Free AI quotas are limited (the paid backup or the engine then answers)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A ruling appears only when the encyclopedia names the subject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Human evaluation and user test not yet 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1C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EE6A0"/>
                </a:solidFill>
                <a:latin typeface="Calibri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937760" cy="2560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Blind rating by two raters and a user test (SUS)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More languages from the QuranEnc catalogue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A scholarly review board for reported cases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CEFF5"/>
                </a:solidFill>
                <a:latin typeface="Calibri"/>
              </a:rPr>
              <a:t>Offline mode (PWA) and more reciters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800" b="0">
                <a:solidFill>
                  <a:srgbClr val="FFD66B"/>
                </a:solidFill>
                <a:latin typeface="Arial"/>
              </a:rPr>
              <a:t>مِشكاة: نجمع لك نور البيان، ولا نكتب عن الله ما لم يُنقل.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